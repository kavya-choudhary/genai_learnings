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Policy and Claims </a:t>
            </a:r>
            <a:r>
              <a:rPr lang="en-IN" dirty="0" err="1" smtClean="0"/>
              <a:t>Copilot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5"/>
            <a:ext cx="7854696" cy="236138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Built using </a:t>
            </a:r>
            <a:r>
              <a:rPr dirty="0" err="1"/>
              <a:t>LangChain</a:t>
            </a:r>
            <a:r>
              <a:rPr dirty="0"/>
              <a:t>, FAISS &amp; </a:t>
            </a:r>
            <a:r>
              <a:rPr dirty="0" smtClean="0"/>
              <a:t>RAG</a:t>
            </a: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dirty="0"/>
          </a:p>
          <a:p>
            <a:r>
              <a:rPr dirty="0"/>
              <a:t>Presented by: </a:t>
            </a:r>
            <a:endParaRPr lang="en-IN" dirty="0" smtClean="0"/>
          </a:p>
          <a:p>
            <a:r>
              <a:rPr dirty="0" err="1" smtClean="0"/>
              <a:t>Kavya</a:t>
            </a:r>
            <a:r>
              <a:rPr dirty="0" smtClean="0"/>
              <a:t> </a:t>
            </a:r>
            <a:r>
              <a:rPr lang="en-IN" dirty="0" smtClean="0"/>
              <a:t>T - 51835763</a:t>
            </a:r>
            <a:endParaRPr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199" y="897147"/>
            <a:ext cx="8255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0777"/>
            <a:ext cx="75895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 sz="2000"/>
            </a:pPr>
            <a:r>
              <a:rPr lang="en-IN" dirty="0" smtClean="0"/>
              <a:t>    </a:t>
            </a:r>
            <a:r>
              <a:rPr dirty="0" smtClean="0"/>
              <a:t>Introduction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Objective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LLM </a:t>
            </a:r>
            <a:r>
              <a:rPr dirty="0" err="1"/>
              <a:t>vs</a:t>
            </a:r>
            <a:r>
              <a:rPr dirty="0"/>
              <a:t> RAG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Architecture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Workflow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Implementation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Technology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Demo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Benefits</a:t>
            </a:r>
            <a:endParaRPr dirty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   </a:t>
            </a:r>
            <a:r>
              <a:rPr dirty="0" smtClean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974784"/>
            <a:ext cx="8031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Business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526"/>
            <a:ext cx="758952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smtClean="0"/>
              <a:t>Problem: </a:t>
            </a:r>
          </a:p>
          <a:p>
            <a:r>
              <a:rPr lang="en-IN" b="1" dirty="0" smtClean="0"/>
              <a:t>“</a:t>
            </a:r>
            <a:r>
              <a:rPr lang="en-IN" b="1" dirty="0" smtClean="0"/>
              <a:t>Policy &amp; Claims </a:t>
            </a:r>
            <a:r>
              <a:rPr lang="en-IN" b="1" dirty="0" err="1" smtClean="0"/>
              <a:t>Copilot</a:t>
            </a:r>
            <a:r>
              <a:rPr lang="en-IN" b="1" dirty="0" smtClean="0"/>
              <a:t>” (Customer support + Claims pre-check)</a:t>
            </a:r>
            <a:endParaRPr lang="en-IN" dirty="0" smtClean="0"/>
          </a:p>
          <a:p>
            <a:r>
              <a:rPr lang="en-IN" b="1" dirty="0" smtClean="0"/>
              <a:t>Goal: </a:t>
            </a:r>
            <a:r>
              <a:rPr lang="en-IN" sz="1400" dirty="0" smtClean="0"/>
              <a:t>Help </a:t>
            </a:r>
            <a:r>
              <a:rPr lang="en-IN" sz="1400" dirty="0" smtClean="0"/>
              <a:t>customers, agents, and claims teams get </a:t>
            </a:r>
            <a:r>
              <a:rPr lang="en-IN" sz="1400" b="1" dirty="0" smtClean="0"/>
              <a:t>instant, consistent answers</a:t>
            </a:r>
            <a:r>
              <a:rPr lang="en-IN" sz="1400" dirty="0" smtClean="0"/>
              <a:t> about:</a:t>
            </a:r>
          </a:p>
          <a:p>
            <a:pPr lvl="1">
              <a:buFont typeface="Arial" pitchFamily="34" charset="0"/>
              <a:buChar char="•"/>
            </a:pPr>
            <a:r>
              <a:rPr lang="en-IN" sz="1400" dirty="0" smtClean="0"/>
              <a:t>  what’s </a:t>
            </a:r>
            <a:r>
              <a:rPr lang="en-IN" sz="1400" dirty="0" smtClean="0"/>
              <a:t>covered / not covered</a:t>
            </a:r>
          </a:p>
          <a:p>
            <a:pPr lvl="1">
              <a:buFont typeface="Arial" pitchFamily="34" charset="0"/>
              <a:buChar char="•"/>
            </a:pPr>
            <a:r>
              <a:rPr lang="en-IN" sz="1400" dirty="0" smtClean="0"/>
              <a:t>  Limits </a:t>
            </a:r>
            <a:r>
              <a:rPr lang="en-IN" sz="1400" dirty="0" smtClean="0"/>
              <a:t>&amp; sub-limits</a:t>
            </a:r>
          </a:p>
          <a:p>
            <a:pPr lvl="1">
              <a:buFont typeface="Arial" pitchFamily="34" charset="0"/>
              <a:buChar char="•"/>
            </a:pPr>
            <a:r>
              <a:rPr lang="en-IN" sz="1400" dirty="0" smtClean="0"/>
              <a:t>  waiting </a:t>
            </a:r>
            <a:r>
              <a:rPr lang="en-IN" sz="1400" dirty="0" smtClean="0"/>
              <a:t>periods</a:t>
            </a:r>
          </a:p>
          <a:p>
            <a:pPr lvl="1">
              <a:buFont typeface="Arial" pitchFamily="34" charset="0"/>
              <a:buChar char="•"/>
            </a:pPr>
            <a:r>
              <a:rPr lang="en-IN" sz="1400" dirty="0" smtClean="0"/>
              <a:t>  claim </a:t>
            </a:r>
            <a:r>
              <a:rPr lang="en-IN" sz="1400" dirty="0" smtClean="0"/>
              <a:t>submission steps + timelines</a:t>
            </a:r>
          </a:p>
          <a:p>
            <a:pPr lvl="1">
              <a:buFont typeface="Arial" pitchFamily="34" charset="0"/>
              <a:buChar char="•"/>
            </a:pPr>
            <a:r>
              <a:rPr lang="en-IN" sz="1400" dirty="0" smtClean="0"/>
              <a:t>  documents needed</a:t>
            </a:r>
            <a:endParaRPr lang="en-IN" sz="1400" dirty="0" smtClean="0"/>
          </a:p>
          <a:p>
            <a:endParaRPr dirty="0"/>
          </a:p>
          <a:p>
            <a:r>
              <a:rPr b="1" dirty="0"/>
              <a:t>Objective:</a:t>
            </a:r>
          </a:p>
          <a:p>
            <a:r>
              <a:rPr dirty="0"/>
              <a:t>Build a source-backed AI assistant using RAG.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71268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Plain LLM </a:t>
            </a:r>
            <a:r>
              <a:rPr dirty="0" err="1"/>
              <a:t>vs</a:t>
            </a:r>
            <a:r>
              <a:rPr dirty="0"/>
              <a:t>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4589" y="2165230"/>
            <a:ext cx="30268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 sz="2000"/>
            </a:pPr>
            <a:r>
              <a:rPr lang="en-IN" sz="1400" dirty="0" smtClean="0"/>
              <a:t>     A </a:t>
            </a:r>
            <a:r>
              <a:rPr lang="en-IN" sz="1400" dirty="0" smtClean="0"/>
              <a:t>traditional LLM answers only from its </a:t>
            </a:r>
            <a:r>
              <a:rPr lang="en-IN" sz="1400" dirty="0" err="1" smtClean="0"/>
              <a:t>pretrained</a:t>
            </a:r>
            <a:r>
              <a:rPr lang="en-IN" sz="1400" dirty="0" smtClean="0"/>
              <a:t> knowledge, which may lead to hallucinations or outdated responses. </a:t>
            </a:r>
            <a:endParaRPr lang="en-IN" sz="1400" dirty="0" smtClean="0"/>
          </a:p>
          <a:p>
            <a:pPr>
              <a:buFont typeface="Arial" pitchFamily="34" charset="0"/>
              <a:buChar char="•"/>
              <a:defRPr sz="2000"/>
            </a:pPr>
            <a:endParaRPr lang="en-IN" sz="1400" dirty="0" smtClean="0"/>
          </a:p>
          <a:p>
            <a:pPr>
              <a:buFont typeface="Arial" pitchFamily="34" charset="0"/>
              <a:buChar char="•"/>
              <a:defRPr sz="2000"/>
            </a:pPr>
            <a:r>
              <a:rPr lang="en-IN" sz="1400" dirty="0" smtClean="0"/>
              <a:t>    RAG searches </a:t>
            </a:r>
            <a:r>
              <a:rPr lang="en-IN" sz="1400" dirty="0" smtClean="0"/>
              <a:t>external data first (databases, documents, APIs) and then generate information based </a:t>
            </a:r>
            <a:r>
              <a:rPr lang="en-IN" sz="1400" dirty="0" smtClean="0"/>
              <a:t>on retrieved </a:t>
            </a:r>
            <a:r>
              <a:rPr lang="en-IN" sz="1400" dirty="0" smtClean="0"/>
              <a:t>data</a:t>
            </a:r>
            <a:r>
              <a:rPr lang="en-IN" sz="2000" dirty="0" smtClean="0"/>
              <a:t>.</a:t>
            </a:r>
            <a:r>
              <a:rPr lang="en-IN" sz="1400" dirty="0" smtClean="0"/>
              <a:t>. </a:t>
            </a:r>
            <a:r>
              <a:rPr lang="en-IN" sz="1400" dirty="0" smtClean="0"/>
              <a:t>This results in more accurate, explainable, and source-backed answers."</a:t>
            </a:r>
            <a:endParaRPr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28468"/>
            <a:ext cx="5190095" cy="4537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5936360"/>
            <a:ext cx="67976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 smtClean="0"/>
              <a:t>Source : https</a:t>
            </a:r>
            <a:r>
              <a:rPr lang="en-IN" sz="1200" dirty="0" smtClean="0"/>
              <a:t>://trigma.com/artificial-intelligence/llm-vs-rag/</a:t>
            </a:r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36762"/>
            <a:ext cx="29215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dirty="0" smtClean="0"/>
              <a:t>RAG </a:t>
            </a:r>
            <a:r>
              <a:rPr dirty="0" smtClean="0"/>
              <a:t>Architecture</a:t>
            </a:r>
            <a:endParaRPr dirty="0"/>
          </a:p>
        </p:txBody>
      </p:sp>
      <p:pic>
        <p:nvPicPr>
          <p:cNvPr id="21505" name="Picture 1" descr="C:\Users\Administrator\Downloads\RAG_workflo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246" y="1359983"/>
            <a:ext cx="7668882" cy="4900295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893696" y="6260278"/>
            <a:ext cx="60678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smtClean="0"/>
              <a:t>Source - https</a:t>
            </a:r>
            <a:r>
              <a:rPr lang="en-IN" sz="1400" dirty="0" smtClean="0"/>
              <a:t>://huggingface.co/learn/cookbook/advanced_rag</a:t>
            </a:r>
            <a:endParaRPr lang="en-I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744863"/>
            <a:ext cx="36174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dirty="0" smtClean="0"/>
              <a:t>Implementation Steps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2311879" y="2147987"/>
            <a:ext cx="2967487" cy="85399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1"/>
                </a:solidFill>
              </a:rPr>
              <a:t>📄 Upload </a:t>
            </a:r>
            <a:r>
              <a:rPr lang="en-IN" sz="1600" b="1" dirty="0" smtClean="0">
                <a:solidFill>
                  <a:schemeClr val="tx1"/>
                </a:solidFill>
              </a:rPr>
              <a:t>Policy PDF</a:t>
            </a:r>
          </a:p>
          <a:p>
            <a:pPr algn="ctr"/>
            <a:r>
              <a:rPr lang="en-IN" sz="1600" dirty="0" smtClean="0">
                <a:solidFill>
                  <a:schemeClr val="tx1"/>
                </a:solidFill>
              </a:rPr>
              <a:t> </a:t>
            </a:r>
            <a:r>
              <a:rPr lang="en-IN" sz="1600" dirty="0" smtClean="0">
                <a:solidFill>
                  <a:schemeClr val="tx1"/>
                </a:solidFill>
              </a:rPr>
              <a:t>(health-companion.pdf) 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311879" y="3260774"/>
            <a:ext cx="2967487" cy="853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1"/>
                </a:solidFill>
              </a:rPr>
              <a:t>📖 </a:t>
            </a:r>
            <a:r>
              <a:rPr lang="en-IN" sz="1600" b="1" dirty="0" err="1" smtClean="0">
                <a:solidFill>
                  <a:schemeClr val="tx1"/>
                </a:solidFill>
              </a:rPr>
              <a:t>PyPDFLoader</a:t>
            </a:r>
            <a:r>
              <a:rPr lang="en-IN" sz="1600" b="1" dirty="0" smtClean="0">
                <a:solidFill>
                  <a:schemeClr val="tx1"/>
                </a:solidFill>
              </a:rPr>
              <a:t> </a:t>
            </a:r>
            <a:endParaRPr lang="en-IN" sz="1600" b="1" dirty="0" smtClean="0">
              <a:solidFill>
                <a:schemeClr val="tx1"/>
              </a:solidFill>
            </a:endParaRPr>
          </a:p>
          <a:p>
            <a:pPr algn="ctr"/>
            <a:r>
              <a:rPr lang="en-IN" sz="1600" dirty="0" smtClean="0">
                <a:solidFill>
                  <a:schemeClr val="tx1"/>
                </a:solidFill>
              </a:rPr>
              <a:t>Read </a:t>
            </a:r>
            <a:r>
              <a:rPr lang="en-IN" sz="1600" dirty="0" smtClean="0">
                <a:solidFill>
                  <a:schemeClr val="tx1"/>
                </a:solidFill>
              </a:rPr>
              <a:t>&amp; Extract Text from PDF 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11879" y="4399461"/>
            <a:ext cx="2967487" cy="853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✂ </a:t>
            </a:r>
            <a:r>
              <a:rPr lang="en-IN" sz="1600" b="1" dirty="0" err="1" smtClean="0">
                <a:solidFill>
                  <a:schemeClr val="tx1"/>
                </a:solidFill>
              </a:rPr>
              <a:t>RecursiveCharacterText</a:t>
            </a:r>
            <a:r>
              <a:rPr lang="en-IN" sz="16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IN" sz="1600" dirty="0" smtClean="0">
                <a:solidFill>
                  <a:schemeClr val="tx1"/>
                </a:solidFill>
              </a:rPr>
              <a:t>Split </a:t>
            </a:r>
            <a:r>
              <a:rPr lang="en-IN" sz="1600" dirty="0" smtClean="0">
                <a:solidFill>
                  <a:schemeClr val="tx1"/>
                </a:solidFill>
              </a:rPr>
              <a:t>into Text Chunks 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11879" y="5538148"/>
            <a:ext cx="2967487" cy="853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1"/>
                </a:solidFill>
              </a:rPr>
              <a:t>🧠 </a:t>
            </a:r>
            <a:r>
              <a:rPr lang="en-IN" sz="1600" b="1" dirty="0" err="1" smtClean="0">
                <a:solidFill>
                  <a:schemeClr val="tx1"/>
                </a:solidFill>
              </a:rPr>
              <a:t>HuggingFace</a:t>
            </a:r>
            <a:r>
              <a:rPr lang="en-IN" sz="1600" b="1" dirty="0" smtClean="0">
                <a:solidFill>
                  <a:schemeClr val="tx1"/>
                </a:solidFill>
              </a:rPr>
              <a:t> Embeddings</a:t>
            </a:r>
          </a:p>
          <a:p>
            <a:pPr algn="ctr"/>
            <a:r>
              <a:rPr lang="en-IN" sz="1600" dirty="0" smtClean="0">
                <a:solidFill>
                  <a:schemeClr val="tx1"/>
                </a:solidFill>
              </a:rPr>
              <a:t> </a:t>
            </a:r>
            <a:r>
              <a:rPr lang="en-IN" sz="1600" dirty="0" smtClean="0">
                <a:solidFill>
                  <a:schemeClr val="tx1"/>
                </a:solidFill>
              </a:rPr>
              <a:t>all-MiniLM-L6-v2 Model 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018581" y="1268083"/>
            <a:ext cx="35540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 smtClean="0"/>
              <a:t>👤 </a:t>
            </a:r>
            <a:r>
              <a:rPr lang="en-IN" b="1" dirty="0" smtClean="0"/>
              <a:t>USER </a:t>
            </a:r>
          </a:p>
          <a:p>
            <a:pPr algn="ctr"/>
            <a:r>
              <a:rPr lang="en-IN" dirty="0" smtClean="0"/>
              <a:t>Ask </a:t>
            </a:r>
            <a:r>
              <a:rPr lang="en-IN" dirty="0" smtClean="0"/>
              <a:t>Insurance Query</a:t>
            </a:r>
            <a:endParaRPr lang="en-IN" dirty="0"/>
          </a:p>
        </p:txBody>
      </p:sp>
      <p:cxnSp>
        <p:nvCxnSpPr>
          <p:cNvPr id="42" name="Straight Arrow Connector 41"/>
          <p:cNvCxnSpPr>
            <a:stCxn id="33" idx="2"/>
            <a:endCxn id="34" idx="0"/>
          </p:cNvCxnSpPr>
          <p:nvPr/>
        </p:nvCxnSpPr>
        <p:spPr>
          <a:xfrm>
            <a:off x="3795623" y="3001981"/>
            <a:ext cx="0" cy="2587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4" idx="2"/>
            <a:endCxn id="35" idx="0"/>
          </p:cNvCxnSpPr>
          <p:nvPr/>
        </p:nvCxnSpPr>
        <p:spPr>
          <a:xfrm>
            <a:off x="3795623" y="4114768"/>
            <a:ext cx="0" cy="284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5" idx="2"/>
            <a:endCxn id="36" idx="0"/>
          </p:cNvCxnSpPr>
          <p:nvPr/>
        </p:nvCxnSpPr>
        <p:spPr>
          <a:xfrm>
            <a:off x="3795623" y="5253455"/>
            <a:ext cx="0" cy="284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40" idx="2"/>
            <a:endCxn id="33" idx="0"/>
          </p:cNvCxnSpPr>
          <p:nvPr/>
        </p:nvCxnSpPr>
        <p:spPr>
          <a:xfrm>
            <a:off x="3795623" y="1914414"/>
            <a:ext cx="0" cy="2335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36" idx="2"/>
          </p:cNvCxnSpPr>
          <p:nvPr/>
        </p:nvCxnSpPr>
        <p:spPr>
          <a:xfrm>
            <a:off x="3795623" y="6392142"/>
            <a:ext cx="0" cy="3623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11879" y="2147987"/>
            <a:ext cx="2967487" cy="85399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1"/>
                </a:solidFill>
              </a:rPr>
              <a:t>🗄 FAISS Vector Database </a:t>
            </a:r>
            <a:endParaRPr lang="en-IN" sz="1600" b="1" dirty="0" smtClean="0">
              <a:solidFill>
                <a:schemeClr val="tx1"/>
              </a:solidFill>
            </a:endParaRPr>
          </a:p>
          <a:p>
            <a:pPr algn="ctr"/>
            <a:r>
              <a:rPr lang="en-IN" sz="1600" dirty="0" smtClean="0">
                <a:solidFill>
                  <a:schemeClr val="tx1"/>
                </a:solidFill>
              </a:rPr>
              <a:t>Store </a:t>
            </a:r>
            <a:r>
              <a:rPr lang="en-IN" sz="1600" dirty="0" smtClean="0">
                <a:solidFill>
                  <a:schemeClr val="tx1"/>
                </a:solidFill>
              </a:rPr>
              <a:t>Vector Embeddings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11879" y="4132055"/>
            <a:ext cx="2967487" cy="853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1"/>
                </a:solidFill>
              </a:rPr>
              <a:t>🤖 Google FLAN-T5 Base </a:t>
            </a:r>
            <a:r>
              <a:rPr lang="en-IN" sz="1600" b="1" dirty="0" smtClean="0">
                <a:solidFill>
                  <a:schemeClr val="tx1"/>
                </a:solidFill>
              </a:rPr>
              <a:t> </a:t>
            </a:r>
            <a:r>
              <a:rPr lang="en-IN" sz="1600" dirty="0" smtClean="0">
                <a:solidFill>
                  <a:schemeClr val="tx1"/>
                </a:solidFill>
              </a:rPr>
              <a:t>Generate Context-Based Answer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11879" y="5270742"/>
            <a:ext cx="2967487" cy="853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chemeClr val="tx1"/>
                </a:solidFill>
              </a:rPr>
              <a:t>💬 Final Answer + Source Page</a:t>
            </a:r>
            <a:endParaRPr lang="en-IN" sz="16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endCxn id="10" idx="0"/>
          </p:cNvCxnSpPr>
          <p:nvPr/>
        </p:nvCxnSpPr>
        <p:spPr>
          <a:xfrm>
            <a:off x="3795623" y="3847362"/>
            <a:ext cx="0" cy="284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2"/>
            <a:endCxn id="11" idx="0"/>
          </p:cNvCxnSpPr>
          <p:nvPr/>
        </p:nvCxnSpPr>
        <p:spPr>
          <a:xfrm>
            <a:off x="3795623" y="4986049"/>
            <a:ext cx="0" cy="284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470228" y="3429000"/>
            <a:ext cx="2650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🔍 Retriever </a:t>
            </a:r>
            <a:r>
              <a:rPr lang="en-IN" dirty="0" smtClean="0"/>
              <a:t>(Top-K = 3)</a:t>
            </a:r>
            <a:endParaRPr lang="en-IN" dirty="0"/>
          </a:p>
        </p:txBody>
      </p:sp>
      <p:cxnSp>
        <p:nvCxnSpPr>
          <p:cNvPr id="17" name="Straight Arrow Connector 16"/>
          <p:cNvCxnSpPr>
            <a:stCxn id="15" idx="0"/>
            <a:endCxn id="8" idx="2"/>
          </p:cNvCxnSpPr>
          <p:nvPr/>
        </p:nvCxnSpPr>
        <p:spPr>
          <a:xfrm flipV="1">
            <a:off x="3795623" y="3001981"/>
            <a:ext cx="0" cy="4270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3178" y="854015"/>
            <a:ext cx="46415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dirty="0" smtClean="0"/>
              <a:t>Implementation Steps Cont..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538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Technology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0869" y="1682151"/>
          <a:ext cx="6784882" cy="374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2441"/>
                <a:gridCol w="3392441"/>
              </a:tblGrid>
              <a:tr h="4150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 smtClean="0"/>
                        <a:t>Category</a:t>
                      </a:r>
                      <a:endParaRPr lang="en-IN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 smtClean="0"/>
                        <a:t>Technology Used</a:t>
                      </a:r>
                      <a:endParaRPr lang="en-IN" sz="1800" dirty="0" smtClean="0"/>
                    </a:p>
                  </a:txBody>
                  <a:tcPr/>
                </a:tc>
              </a:tr>
              <a:tr h="4216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Programming Language</a:t>
                      </a:r>
                      <a:endParaRPr kumimoji="0" lang="en-IN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3.12</a:t>
                      </a:r>
                    </a:p>
                  </a:txBody>
                  <a:tcPr/>
                </a:tc>
              </a:tr>
              <a:tr h="415088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Development Environment</a:t>
                      </a:r>
                    </a:p>
                  </a:txBody>
                  <a:tcPr marL="75259" marR="75259" marT="37630" marB="376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Google </a:t>
                      </a:r>
                      <a:r>
                        <a:rPr lang="en-IN" sz="1500" dirty="0" err="1"/>
                        <a:t>Colab</a:t>
                      </a:r>
                      <a:r>
                        <a:rPr lang="en-IN" sz="1500" dirty="0"/>
                        <a:t>, </a:t>
                      </a:r>
                      <a:r>
                        <a:rPr lang="en-IN" sz="1500" dirty="0" err="1"/>
                        <a:t>Jupyter</a:t>
                      </a:r>
                      <a:r>
                        <a:rPr lang="en-IN" sz="1500" dirty="0"/>
                        <a:t> Notebook</a:t>
                      </a:r>
                    </a:p>
                  </a:txBody>
                  <a:tcPr marL="75259" marR="75259" marT="37630" marB="37630" anchor="ctr"/>
                </a:tc>
              </a:tr>
              <a:tr h="415088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AI Model</a:t>
                      </a:r>
                    </a:p>
                  </a:txBody>
                  <a:tcPr marL="75259" marR="75259" marT="37630" marB="376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Google FLAN-T5 Base</a:t>
                      </a:r>
                    </a:p>
                  </a:txBody>
                  <a:tcPr marL="75259" marR="75259" marT="37630" marB="37630" anchor="ctr"/>
                </a:tc>
              </a:tr>
              <a:tr h="415088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Framework</a:t>
                      </a:r>
                    </a:p>
                  </a:txBody>
                  <a:tcPr marL="75259" marR="75259" marT="37630" marB="376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/>
                        <a:t>LangChain</a:t>
                      </a:r>
                      <a:endParaRPr lang="en-IN" sz="1500" dirty="0"/>
                    </a:p>
                  </a:txBody>
                  <a:tcPr marL="75259" marR="75259" marT="37630" marB="37630" anchor="ctr"/>
                </a:tc>
              </a:tr>
              <a:tr h="415088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Embedding Model</a:t>
                      </a:r>
                    </a:p>
                  </a:txBody>
                  <a:tcPr marL="75259" marR="75259" marT="37630" marB="376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all-MiniLM-L6-v2</a:t>
                      </a:r>
                    </a:p>
                  </a:txBody>
                  <a:tcPr marL="75259" marR="75259" marT="37630" marB="37630" anchor="ctr"/>
                </a:tc>
              </a:tr>
              <a:tr h="415088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Vector Database</a:t>
                      </a:r>
                    </a:p>
                  </a:txBody>
                  <a:tcPr marL="75259" marR="75259" marT="37630" marB="376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FAISS</a:t>
                      </a:r>
                    </a:p>
                  </a:txBody>
                  <a:tcPr marL="75259" marR="75259" marT="37630" marB="37630" anchor="ctr"/>
                </a:tc>
              </a:tr>
              <a:tr h="415088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Document Loader</a:t>
                      </a:r>
                    </a:p>
                  </a:txBody>
                  <a:tcPr marL="75259" marR="75259" marT="37630" marB="376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/>
                        <a:t>PyPDFLoader</a:t>
                      </a:r>
                      <a:endParaRPr lang="en-IN" sz="1500" dirty="0"/>
                    </a:p>
                  </a:txBody>
                  <a:tcPr marL="75259" marR="75259" marT="37630" marB="37630" anchor="ctr"/>
                </a:tc>
              </a:tr>
              <a:tr h="415088"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Text Chunking</a:t>
                      </a:r>
                    </a:p>
                  </a:txBody>
                  <a:tcPr marL="75259" marR="75259" marT="37630" marB="376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/>
                        <a:t>RecursiveCharacterTextSplitter</a:t>
                      </a:r>
                      <a:endParaRPr lang="en-IN" sz="1500" dirty="0"/>
                    </a:p>
                  </a:txBody>
                  <a:tcPr marL="75259" marR="75259" marT="37630" marB="3763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71268"/>
            <a:ext cx="13372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dirty="0" smtClean="0"/>
              <a:t>Output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94963"/>
            <a:ext cx="77724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914400"/>
            <a:ext cx="19371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dirty="0" smtClean="0"/>
              <a:t>Conclusion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685315"/>
            <a:ext cx="7589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N" dirty="0" smtClean="0"/>
              <a:t>This </a:t>
            </a:r>
            <a:r>
              <a:rPr lang="en-IN" dirty="0" smtClean="0"/>
              <a:t>project demonstrates how Retrieval-Augmented Generation (RAG) can enhance traditional Large Language Models by integrating semantic document retrieval with contextual answer generation, resulting in accurate, explainable, and reliable responses for enterprise insurance policy documents</a:t>
            </a:r>
            <a:r>
              <a:rPr lang="en-IN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914400"/>
            <a:ext cx="3595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dirty="0" smtClean="0"/>
              <a:t>Future Enhancements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685315"/>
            <a:ext cx="7589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N" dirty="0" smtClean="0"/>
              <a:t>🌐 Deploy with </a:t>
            </a:r>
            <a:r>
              <a:rPr lang="en-IN" dirty="0" err="1" smtClean="0"/>
              <a:t>Streamlit</a:t>
            </a:r>
            <a:r>
              <a:rPr lang="en-IN" dirty="0" smtClean="0"/>
              <a:t> </a:t>
            </a:r>
            <a:endParaRPr lang="en-IN" dirty="0" smtClean="0"/>
          </a:p>
          <a:p>
            <a:pPr>
              <a:defRPr sz="2000"/>
            </a:pPr>
            <a:r>
              <a:rPr lang="en-IN" dirty="0" smtClean="0"/>
              <a:t>📚 </a:t>
            </a:r>
            <a:r>
              <a:rPr lang="en-IN" dirty="0" smtClean="0"/>
              <a:t>Support multiple insurance policies </a:t>
            </a:r>
            <a:endParaRPr lang="en-IN" dirty="0" smtClean="0"/>
          </a:p>
          <a:p>
            <a:pPr>
              <a:defRPr sz="2000"/>
            </a:pPr>
            <a:r>
              <a:rPr lang="en-IN" dirty="0" smtClean="0"/>
              <a:t>🗣 </a:t>
            </a:r>
            <a:r>
              <a:rPr lang="en-IN" dirty="0" smtClean="0"/>
              <a:t>Voice-based querying </a:t>
            </a:r>
            <a:endParaRPr lang="en-IN" dirty="0" smtClean="0"/>
          </a:p>
          <a:p>
            <a:pPr>
              <a:defRPr sz="2000"/>
            </a:pPr>
            <a:r>
              <a:rPr lang="en-IN" dirty="0" smtClean="0"/>
              <a:t>🤖 </a:t>
            </a:r>
            <a:r>
              <a:rPr lang="en-IN" dirty="0" smtClean="0"/>
              <a:t>Upgrade to Llama or </a:t>
            </a:r>
            <a:r>
              <a:rPr lang="en-IN" dirty="0" smtClean="0"/>
              <a:t>Mistral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10709" y="3174521"/>
            <a:ext cx="18482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1387" y="2574356"/>
            <a:ext cx="7589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721</TotalTime>
  <Words>347</Words>
  <Application>Microsoft Office PowerPoint</Application>
  <PresentationFormat>On-screen Show (4:3)</PresentationFormat>
  <Paragraphs>83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Policy and Claims Copilot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and Claims Copilot</dc:title>
  <dc:subject/>
  <dc:creator/>
  <cp:keywords/>
  <dc:description>generated using python-pptx</dc:description>
  <cp:lastModifiedBy>Administrator</cp:lastModifiedBy>
  <cp:revision>30</cp:revision>
  <dcterms:created xsi:type="dcterms:W3CDTF">2013-01-27T09:14:16Z</dcterms:created>
  <dcterms:modified xsi:type="dcterms:W3CDTF">2026-07-31T06:12:11Z</dcterms:modified>
  <cp:category/>
</cp:coreProperties>
</file>